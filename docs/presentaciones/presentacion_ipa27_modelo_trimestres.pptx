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4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4063898" cy="292608"/>
          </a:xfrm>
          <a:prstGeom prst="rect">
            <a:avLst/>
          </a:prstGeom>
          <a:solidFill>
            <a:srgbClr val="66AF84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565392"/>
            <a:ext cx="4063898" cy="292608"/>
          </a:xfrm>
          <a:prstGeom prst="rect">
            <a:avLst/>
          </a:prstGeom>
          <a:solidFill>
            <a:srgbClr val="33945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rgbClr val="0079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6620256"/>
            <a:ext cx="378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 Project - Metodología Detallada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63898" y="6620256"/>
            <a:ext cx="4063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IPA27: Análisis de Prosperidad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853928" y="6620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71500" y="1143000"/>
            <a:ext cx="2286000" cy="914400"/>
          </a:xfrm>
          <a:prstGeom prst="rect">
            <a:avLst/>
          </a:prstGeom>
          <a:solidFill>
            <a:srgbClr val="007932"/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71500" y="1143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logo_fa27_white.png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90695" y="384048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</a:t>
            </a:r>
            <a:endParaRPr lang="en-US" sz="135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1993392"/>
            <a:ext cx="7315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Prosperidad Andaluz</a:t>
            </a:r>
            <a:endParaRPr lang="en-US" sz="5500" dirty="0"/>
          </a:p>
        </p:txBody>
      </p:sp>
      <p:sp>
        <p:nvSpPr>
          <p:cNvPr id="7" name="Shape 5"/>
          <p:cNvSpPr/>
          <p:nvPr/>
        </p:nvSpPr>
        <p:spPr>
          <a:xfrm>
            <a:off x="4190695" y="3822192"/>
            <a:ext cx="6096305" cy="134417"/>
          </a:xfrm>
          <a:prstGeom prst="rect">
            <a:avLst/>
          </a:prstGeom>
          <a:solidFill>
            <a:srgbClr val="B3D7C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190695" y="4133088"/>
            <a:ext cx="7315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Técnica, Metodología de Armonización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Análisis de Resultados (2016–2026)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568756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Andalucía 27</a:t>
            </a:r>
            <a:endParaRPr lang="en-US" sz="3000" dirty="0"/>
          </a:p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septiembre de 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INTRODUCCIÓN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solidFill>
            <a:srgbClr val="007932"/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logo_fa27_white.png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y Rigor Técnico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051560"/>
            <a:ext cx="4050792" cy="38404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53135" y="105156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Técnica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1695" y="1435608"/>
            <a:ext cx="4050792" cy="122529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89711" y="150876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Alejandro Hidalgo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 de Economía Aplicada (UPO).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colaboración con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Insights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1695" y="3118104"/>
            <a:ext cx="4050792" cy="38404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53135" y="3118104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Consejo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1695" y="3502152"/>
            <a:ext cx="4050792" cy="9601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889711" y="3575304"/>
            <a:ext cx="3794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Garantizar la independencia, el rigor estadístico y la excelencia académica en el IPA27.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196535" y="1051560"/>
            <a:ext cx="6190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 Técnico Asesor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196535" y="1435608"/>
            <a:ext cx="61904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Doménech 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BBVA Research / Univ. de Valencia.</a:t>
            </a:r>
            <a:endParaRPr lang="en-US" sz="1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Cantó 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Alcalá.</a:t>
            </a:r>
            <a:endParaRPr lang="en-US" sz="1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Villar 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IVIE / Universidad Pablo de Olavide.</a:t>
            </a:r>
            <a:endParaRPr lang="en-US" sz="1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Ángel García 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Rey Juan Carlos.</a:t>
            </a:r>
            <a:endParaRPr lang="en-US" sz="1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Lucía Gorjón 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ISEAK.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196535" y="3977640"/>
            <a:ext cx="6190488" cy="182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IPA-27 y cómo se ha elaborado?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 metodológico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en indicadores globales de prosperidad, especialmente el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Legatum Prosperity Index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la realidad regional andaluza con rigor econométrico.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926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estructura?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3291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empíricos de alto impacto.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(4 por cada dominio).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 una visión integral de la capacidad de generar bienestar y libertad.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36815" y="1051560"/>
            <a:ext cx="3995928" cy="38404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528255" y="105156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Prosperidad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36815" y="1435608"/>
            <a:ext cx="3995928" cy="21488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64831" y="1508760"/>
            <a:ext cx="373989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PIB: La capacidad de una sociedad para generar oportunidades empresariales, seguridad, inclusión social y desarrollo de las personas de forma sostenible.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ARQUITECTURA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solidFill>
            <a:srgbClr val="007932"/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logo_fa27_white.png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Jerárquica: Los 3 Dominios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24128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Prosperidad Andaluz (IPA27)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48" y="1426464"/>
            <a:ext cx="0" cy="237744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666848" y="1664208"/>
            <a:ext cx="6858000" cy="0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666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095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524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158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158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58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1158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Libertad,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Gobernanza, Cap. Social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87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4587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Economías Abiertas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587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4587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Inversión, Empresas,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Infraestr., Calidad Econ.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16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8016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Empoderadas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016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8016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Vida, Salud,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Educación, Conocimiento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1695" y="4206240"/>
            <a:ext cx="975390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seleccionados por su relevancia y periodicidad.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(2 indicadores por pilar).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geométrica para detectar cuellos de botella.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9144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Seguridad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SEG_BAL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de percepción de seguridad ciudadana.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SEG_CRI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criminalidad (delitos por 1.000 hab).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Libertad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LIB_ODI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Delitos de odio y discriminación.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LIB_SEX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libertad y seguridad sexual/género.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Gobernanza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GOB_DES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desafección con las instituciones.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GOB_EFF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y calidad percibida del gobierno.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Cap. Social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SOC_ASO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Dinamismo del tejido asociativo.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Participación en procesos democráticos/sociales.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9144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Inversión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INV_HIP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en activos fijos y sector inmobiliario.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INV_IED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Extranjera Directa (captación de capital).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Empresas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EMP_NAT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Natalidad empresarial (nuevas sociedades).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EMP_SOC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Supervivencia y densidad del stock empresarial.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Infraestr.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INF_BAN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Despliegue y uso de banda ancha ultra-rápida.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Accesibilidad y calidad de redes de transporte.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Calidad Ec.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ECO_RBHpc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Renta Bruta de los Hogares per cápita.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ECO_COL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Evolución del coste laboral y remuneración.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9144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Vida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VID_ARO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riesgo de pobreza o exclusión (AROPE).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paro trimestral armonizada.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Salud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SAL_ESP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Esperanza de vida al nacer.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SAL_SAT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Satisfacción con los servicios sanitarios públicos.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 Educación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EDU_ABA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abandono escolar temprano.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EDU_SUP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adulta con estudios superiores.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 Conoc.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Gasto en I+D sobre el PIB regional.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CON_OCI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Ocupación en sectores de alta tecnología.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METODOLOGÍA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solidFill>
            <a:srgbClr val="007932"/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5143500" y="4731106"/>
            <a:ext cx="1904695" cy="7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logo_fa27_white.png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Oficiales y Automatización de Datos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en el Origen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5330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100% Oficiales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INE, IECA, Ministerios, Banco de España y Eurostat.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dato está vinculado a su URL de origen y metadatos técnicos.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Dictionary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Sistema centralizado de metadatos que garantiza consistencia conceptual.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58407" y="1051560"/>
            <a:ext cx="4800600" cy="384048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549847" y="1051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Automatizado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58407" y="1435608"/>
            <a:ext cx="4800600" cy="1353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586423" y="1508760"/>
            <a:ext cx="4544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586423" y="1508760"/>
            <a:ext cx="4544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vía API/Scraping.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validación de outliers.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Armonización trimestral.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en base de datos productiva.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Series Trimestrales y Nowcasting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9845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un índice de alta frecuencia (trimestral), aplicamos una batería de técnicas econométricas: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801368"/>
            <a:ext cx="984534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Desestacionalización (STL)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Separación de tendencia y ciclo mediante </a:t>
            </a: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Seasonal-Trend decomposition using LOESS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Desagregación Temporal (Chow-Lin)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Transformación de series anuales a trimestrales utilizando indicadores de alta frecuencia relacionados.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Nowcasting (Modelos ARIMA)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Estimación de los trimestres más recientes cuando existe un retardo en la publicación oficial, permitiendo una visión en tiempo real (T-0).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5532120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Un índice dinámico que reacciona a la coyuntura trimestral sin ruido estacional.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por Techos Fijos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Techos Fijos en lugar de Min-Max?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Comparabilidad Temporal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Min-Max tradicional depende de la muestra; si un dato mejora, los límites cambian.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Fijos (5 Años)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Fijamos umbrales de “Prosperidad Ideal” y “Prosperidad Mínima” basados en benchmarks regionales y objetivos estratégicos.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39044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4251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observar si Andalucía avanza hacia el objetivo absoluto, no solo hacia la media.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91095" y="1051560"/>
            <a:ext cx="3977640" cy="38404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482535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0-100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91095" y="1435608"/>
            <a:ext cx="397764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19111" y="1508760"/>
            <a:ext cx="3721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464247" y="17647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598103" y="1563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− Mínimo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52967" y="1892808"/>
            <a:ext cx="16276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598103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− Mínimo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390327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100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RESULTADOS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047695" y="3520440"/>
            <a:ext cx="6096305" cy="1078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952848" y="4771339"/>
            <a:ext cx="2286000" cy="914400"/>
          </a:xfrm>
          <a:prstGeom prst="rect">
            <a:avLst/>
          </a:prstGeom>
          <a:solidFill>
            <a:srgbClr val="007932"/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4952848" y="477133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logo_fa27_white.png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Temporal de la Prosperidad en Andalucía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554480"/>
            <a:ext cx="5870448" cy="329184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554480"/>
            <a:ext cx="58704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ipa27_evolucion_temporal.png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15023" y="105156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de Progreso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15023" y="1399032"/>
            <a:ext cx="4590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de Prosperidad de Andalucía ha aumentado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+10,9%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+2,5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ha aumentado la media de CCAA en España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+4,1%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El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esa mejoría se ha producido desde el tercer trimestre de 2023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totales).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ha aumentado especialmente desde el tercer trimestre de 2023, con un crecimiento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+4,1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+7,8%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+3,7%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ha aumentado en ese periodo la media de CCAA en España.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motores del crecimiento del Índice en ese periodo han sido el dominio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“Economías Abiertas”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incrementado desde el tercer trimestre de 2023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en Andalucía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España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%), y el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incrementado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frente a una caída en España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-1,5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 (+1,9 puntos, 2023T3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ipa27_evolucion_sociedades.png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Institucional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registra a lo largo de todo el período de análisis mejores resultados que la media de CCAA en España en el dominio de Sociedades Inclusivas, situándose el Primer Trimestre de 2026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por encima de la media nacional.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aumentado su ventaja con el resto de las CCAA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2023, Andalucía registra leves mejorías en el dominio “Sociedades Inclusivas”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pese a la reducción general respecto a los niveles de 2016.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 (+10,1 puntos, 2016Q1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29184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325880"/>
            <a:ext cx="6931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ipa27_evolucion_economias.png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Convergencia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“Economías Abiertas”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reduciendo su brecha con la media de las CCAA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menos).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grueso de la mejoría de los indicadores de “Economías Abiertas” en Andalucía se ha producido desde 2023, registrando una mejora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y reduciendo la brecha desde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hasta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Inversión, Empresas, Infraestructuras y Calidad Económica en general.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 (+9,9 puntos, 2016Q1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ipa27_evolucion_personas.png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Suelo Social Consolidado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“Personas Empoderadas”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lo que supone un ligero aumento de la brecha con la media de las CCAA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Vida, Salud, Educación y Conocimiento.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de Prosperidad Material: Renta per Cápita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400800" cy="393192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32588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ipa27_renta_comparativa.png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81951" y="105156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de la Riqueza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81951" y="1435608"/>
            <a:ext cx="4050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con los motores: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Madrid, Cataluña y País Vasco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la prosperidad social (IPA27) converge, la renta per cápita sigue siendo el eje donde la brecha es más difícil de cerrar.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Resultados: Andalucía vs Líderes Nacionales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163928" y="1097280"/>
            <a:ext cx="7863840" cy="315468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2163928" y="1097280"/>
            <a:ext cx="7863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ipa27_barras_raw_ccaa.png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4480560"/>
            <a:ext cx="97539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Prioritarios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Comparativa directa en 6 dimensiones clave (Economía, Educación, Salud y Gobernanza).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Visualización empírica del diferencial real frente a Madrid, Cataluña y País Vasco para identificar los márgenes de mejora necesarios.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2148840"/>
            <a:ext cx="106683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047695" y="3611880"/>
            <a:ext cx="6096305" cy="38405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4160520"/>
            <a:ext cx="10668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de contacto: </a:t>
            </a: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mhidper@upo.es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1649</Words>
  <Application>Microsoft Office PowerPoint</Application>
  <PresentationFormat>Panorámica</PresentationFormat>
  <Paragraphs>227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Índice de Prosperidad Andaluz (IPA27)</dc:title>
  <dc:subject>PptxGenJS Presentation</dc:subject>
  <dc:creator>Fundación Andalucía 27</dc:creator>
  <cp:lastModifiedBy>Manuel Alejandro Hidalgo Perez</cp:lastModifiedBy>
  <cp:revision>1</cp:revision>
  <dcterms:created xsi:type="dcterms:W3CDTF">2026-09-03T06:47:40Z</dcterms:created>
  <dcterms:modified xsi:type="dcterms:W3CDTF">2026-09-03T06:50:44Z</dcterms:modified>
</cp:coreProperties>
</file>