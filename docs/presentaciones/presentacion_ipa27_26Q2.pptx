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843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4063898" cy="292608"/>
          </a:xfrm>
          <a:prstGeom prst="rect">
            <a:avLst/>
          </a:prstGeom>
          <a:solidFill>
            <a:srgbClr val="66AF84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6565392"/>
            <a:ext cx="4063898" cy="292608"/>
          </a:xfrm>
          <a:prstGeom prst="rect">
            <a:avLst/>
          </a:prstGeom>
          <a:solidFill>
            <a:srgbClr val="33945B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rgbClr val="0079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6620256"/>
            <a:ext cx="37895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 Project - Metodología Detallada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063898" y="6620256"/>
            <a:ext cx="40638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IPA27: Análisis de Prosperidad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853928" y="66202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0079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4190695" y="384048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3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</a:t>
            </a:r>
            <a:endParaRPr lang="en-US" sz="11300" dirty="0"/>
          </a:p>
        </p:txBody>
      </p:sp>
      <p:sp>
        <p:nvSpPr>
          <p:cNvPr id="6" name="Text 4"/>
          <p:cNvSpPr txBox="1"/>
          <p:nvPr/>
        </p:nvSpPr>
        <p:spPr>
          <a:xfrm>
            <a:off x="4106720" y="2255769"/>
            <a:ext cx="7315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3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</a:t>
            </a:r>
            <a:r>
              <a:rPr lang="en-US" sz="36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Prosperidad</a:t>
            </a:r>
            <a:r>
              <a:rPr lang="en-US" sz="3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Andaluz Segundo </a:t>
            </a:r>
            <a:r>
              <a:rPr lang="en-US" sz="36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Trimestre</a:t>
            </a:r>
            <a:r>
              <a:rPr lang="en-US" sz="3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2026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325615" y="3842010"/>
            <a:ext cx="6096305" cy="134417"/>
          </a:xfrm>
          <a:prstGeom prst="rect">
            <a:avLst/>
          </a:prstGeom>
          <a:solidFill>
            <a:srgbClr val="B3D7C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4190695" y="4133088"/>
            <a:ext cx="7315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326126" y="5253392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septiembre de 2026</a:t>
            </a:r>
            <a:endParaRPr lang="en-US" sz="30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3D6721A-1DC1-E586-9555-CF9A7B090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32" y="928850"/>
            <a:ext cx="2553520" cy="81597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D28BF2C-0431-93B3-C6A5-DD39C1277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326" y="4372418"/>
            <a:ext cx="5170577" cy="9862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7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74520"/>
            <a:ext cx="11643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INTRODUCCIÓN</a:t>
            </a:r>
            <a:endParaRPr lang="en-US" sz="5300" dirty="0"/>
          </a:p>
        </p:txBody>
      </p:sp>
      <p:sp>
        <p:nvSpPr>
          <p:cNvPr id="3" name="Shape 1"/>
          <p:cNvSpPr/>
          <p:nvPr/>
        </p:nvSpPr>
        <p:spPr>
          <a:xfrm>
            <a:off x="3809848" y="3520440"/>
            <a:ext cx="4572000" cy="676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157F65C-763B-D432-4FF7-403766FEC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622" y="3877355"/>
            <a:ext cx="2962215" cy="9465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 y Rigor Técnico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1695" y="1051560"/>
            <a:ext cx="4050792" cy="384048"/>
          </a:xfrm>
          <a:prstGeom prst="rect">
            <a:avLst/>
          </a:prstGeom>
          <a:solidFill>
            <a:srgbClr val="007932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853135" y="105156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Técnica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1695" y="1435608"/>
            <a:ext cx="4050792" cy="1225296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889711" y="1508760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Alejandro Hidalgo</a:t>
            </a:r>
            <a:endParaRPr lang="en-US" sz="21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 de Economía Aplicada (UPO).</a:t>
            </a:r>
            <a:endParaRPr lang="en-US" sz="21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colaboración con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 Insights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61695" y="3118104"/>
            <a:ext cx="4050792" cy="384048"/>
          </a:xfrm>
          <a:prstGeom prst="rect">
            <a:avLst/>
          </a:prstGeom>
          <a:solidFill>
            <a:srgbClr val="333333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53135" y="3118104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del Consejo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61695" y="3502152"/>
            <a:ext cx="4050792" cy="96012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889711" y="3575304"/>
            <a:ext cx="3794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Garantizar la independencia, el rigor estadístico y la excelencia académica en el IPA27.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196535" y="1051560"/>
            <a:ext cx="6190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Consejo Técnico Asesor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196535" y="1435608"/>
            <a:ext cx="61904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Doménech 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BBVA Research / Univ. de Valencia.</a:t>
            </a:r>
            <a:endParaRPr lang="en-US" sz="1900" b="1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Olga Cantó 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Alcalá.</a:t>
            </a:r>
            <a:endParaRPr lang="en-US" sz="1900" b="1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Antonio Villar 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IVIE / Universidad Pablo de Olavide.</a:t>
            </a:r>
            <a:endParaRPr lang="en-US" sz="1900" b="1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Ángel García 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Rey Juan Carlos.</a:t>
            </a:r>
            <a:endParaRPr lang="en-US" sz="1900" b="1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Lucía Gorjón 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Fundación ISEAK.</a:t>
            </a:r>
            <a:endParaRPr lang="en-US" sz="1900" b="1" dirty="0"/>
          </a:p>
        </p:txBody>
      </p:sp>
      <p:sp>
        <p:nvSpPr>
          <p:cNvPr id="13" name="Shape 11"/>
          <p:cNvSpPr/>
          <p:nvPr/>
        </p:nvSpPr>
        <p:spPr>
          <a:xfrm>
            <a:off x="5196535" y="3977640"/>
            <a:ext cx="6190488" cy="182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IPA-27 y cómo se ha elaborado?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515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Referente metodológico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1732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Inspirado en indicadores globales de prosperidad, especialmente el </a:t>
            </a: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Legatum Prosperity Index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Adaptado a la realidad regional andaluza con rigor econométrico.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29260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estructura?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32918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Indicadores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empíricos de alto impacto.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Pilares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estratégicos (4 por cada dominio).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 una visión integral de la capacidad de generar bienestar y libertad.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436815" y="1051560"/>
            <a:ext cx="3995928" cy="384048"/>
          </a:xfrm>
          <a:prstGeom prst="rect">
            <a:avLst/>
          </a:prstGeom>
          <a:solidFill>
            <a:srgbClr val="007932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528255" y="1051560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 Prosperidad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436815" y="1435608"/>
            <a:ext cx="3995928" cy="214884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7564831" y="1508760"/>
            <a:ext cx="373989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allá del PIB: La capacidad de una sociedad para generar oportunidades empresariales, seguridad, inclusión social y desarrollo de las personas de forma sostenible.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74520"/>
            <a:ext cx="11643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ARQUITECTURA</a:t>
            </a:r>
            <a:endParaRPr lang="en-US" sz="5300" dirty="0"/>
          </a:p>
        </p:txBody>
      </p:sp>
      <p:sp>
        <p:nvSpPr>
          <p:cNvPr id="3" name="Shape 1"/>
          <p:cNvSpPr/>
          <p:nvPr/>
        </p:nvSpPr>
        <p:spPr>
          <a:xfrm>
            <a:off x="3809848" y="3520440"/>
            <a:ext cx="4572000" cy="676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0754A10-FA2A-4336-BB6A-CF3A17A8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622" y="3877355"/>
            <a:ext cx="2962215" cy="9465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Jerárquica: Los 3 Dominios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24128"/>
            <a:ext cx="106683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Prosperidad Andaluz (IPA27)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48" y="1426464"/>
            <a:ext cx="0" cy="237744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666848" y="1664208"/>
            <a:ext cx="6858000" cy="0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666848" y="1664208"/>
            <a:ext cx="0" cy="256032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095848" y="1664208"/>
            <a:ext cx="0" cy="256032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9524848" y="1664208"/>
            <a:ext cx="0" cy="256032"/>
          </a:xfrm>
          <a:prstGeom prst="line">
            <a:avLst/>
          </a:prstGeom>
          <a:noFill/>
          <a:ln w="22225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158088" y="19202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07932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1158088" y="1920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Sociedades Inclusivas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58088" y="287121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1158088" y="287121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Libertad,</a:t>
            </a:r>
            <a:endParaRPr lang="en-US" sz="1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Gobernanza, Cap. Social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87088" y="19202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07932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4587088" y="1920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Economías Abiertas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4587088" y="287121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4587088" y="287121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Inversión, Empresas,</a:t>
            </a:r>
            <a:endParaRPr lang="en-US" sz="1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Infraestr., Calidad Econ.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16088" y="19202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007932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8016088" y="1920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Empoderadas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016088" y="287121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19050">
            <a:solidFill>
              <a:srgbClr val="0079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8016088" y="287121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Vida, Salud,</a:t>
            </a:r>
            <a:endParaRPr lang="en-US" sz="1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Educación, Conocimiento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61695" y="4206240"/>
            <a:ext cx="975390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Indicadores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seleccionados por su relevancia y periodicidad.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Pilares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estratégicos (2 indicadores por pilar).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Agregación geométrica para detectar cuellos de botella.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1: Sociedades Inclusivas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6708" y="1097280"/>
          <a:ext cx="9098280" cy="31546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/ Proxy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Seguridad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SEG_BAL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de percepción de seguridad ciudadana.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SEG_CRI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criminalidad (delitos por 1.000 hab).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Libertad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LIB_ODI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Delitos de odio y discriminación.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LIB_SEX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de libertad y seguridad sexual/género.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Gobernanza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GOB_DES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de desafección con las instituciones.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GOB_EFF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 y calidad percibida del gobierno.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Cap. Social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SOC_ASO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Dinamismo del tejido asociativo.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SOC_PAR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Participación en procesos democráticos/sociales.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2: Economías Abiertas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6708" y="1097280"/>
          <a:ext cx="9098280" cy="31546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/ Proxy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Inversión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INV_HIP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Inversión en activos fijos y sector inmobiliario.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INV_IED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Inversión Extranjera Directa (captación de capital).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Empresas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EMP_NAT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Natalidad empresarial (nuevas sociedades).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EMP_SOC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Supervivencia y densidad del stock empresarial.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Infraestr.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INF_BAN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Despliegue y uso de banda ancha ultra-rápida.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INF_TRA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Accesibilidad y calidad de redes de transporte.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 Calidad Ec.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ECO_RBHpc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Renta Bruta de los Hogares per cápita.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ECO_COL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Evolución del coste laboral y remuneración.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3: Personas Empoderadas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6708" y="1097280"/>
          <a:ext cx="9098280" cy="31546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/ Proxy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 Vida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VID_ARO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riesgo de pobreza o exclusión (AROPE).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VID_PAR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paro trimestral armonizada.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 Salud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SAL_ESP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Esperanza de vida al nacer.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SAL_SAT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Satisfacción con los servicios sanitarios públicos.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 Educación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EDU_ABA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abandono escolar temprano.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EDU_SUP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adulta con estudios superiores.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 Conoc.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CON_IDI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Gasto en I+D sobre el PIB regional.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43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CON_OCI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Ocupación en sectores de alta tecnología.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7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74520"/>
            <a:ext cx="11643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METODOLOGÍA</a:t>
            </a:r>
            <a:endParaRPr lang="en-US" sz="5300" dirty="0"/>
          </a:p>
        </p:txBody>
      </p:sp>
      <p:sp>
        <p:nvSpPr>
          <p:cNvPr id="3" name="Shape 1"/>
          <p:cNvSpPr/>
          <p:nvPr/>
        </p:nvSpPr>
        <p:spPr>
          <a:xfrm>
            <a:off x="3809848" y="3520440"/>
            <a:ext cx="4572000" cy="676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2479646-6D67-85BF-09EE-60D066A84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622" y="3877355"/>
            <a:ext cx="2962215" cy="9465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Oficiales y Automatización de Datos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51560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 en el Origen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17320"/>
            <a:ext cx="53309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100% Oficiales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INE, IECA, Ministerios, Banco de España y Eurostat.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Total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Cada dato está vinculado a su URL de origen y metadatos técnicos.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Dictionary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Sistema centralizado de metadatos que garantiza consistencia conceptual.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58407" y="1051560"/>
            <a:ext cx="4800600" cy="384048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6549847" y="105156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Automatizado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58407" y="1435608"/>
            <a:ext cx="4800600" cy="135331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6586423" y="1508760"/>
            <a:ext cx="45445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586423" y="1508760"/>
            <a:ext cx="4544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Clr>
                <a:srgbClr val="007932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vía API/Scraping.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Clr>
                <a:srgbClr val="007932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y validación de outliers.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Clr>
                <a:srgbClr val="007932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Armonización trimestral.</a:t>
            </a:r>
            <a:endParaRPr lang="en-US" sz="1500" dirty="0"/>
          </a:p>
          <a:p>
            <a:pPr marL="342900" indent="-342900" algn="l">
              <a:spcAft>
                <a:spcPts val="500"/>
              </a:spcAft>
              <a:buClr>
                <a:srgbClr val="007932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en base de datos productiva.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Tratamiento de Series Trimestrales y Nowcasting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51560"/>
            <a:ext cx="9845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obtener un índice de alta frecuencia (trimestral), aplicamos una batería de técnicas econométricas: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801368"/>
            <a:ext cx="984534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Desestacionalización (STL)</a:t>
            </a: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Separación de tendencia y ciclo mediante </a:t>
            </a:r>
            <a:r>
              <a:rPr lang="en-US" sz="1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Seasonal-Trend decomposition using LOESS</a:t>
            </a: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Desagregación Temporal (Chow-Lin)</a:t>
            </a: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Transformación de series anuales a trimestrales utilizando indicadores de alta frecuencia relacionados.</a:t>
            </a:r>
            <a:endParaRPr lang="en-US" sz="19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Nowcasting (Modelos ARIMA)</a:t>
            </a: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Estimación de los trimestres más recientes cuando existe un retardo en la publicación oficial, permitiendo una visión en tiempo real (T-0).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5532120"/>
            <a:ext cx="106683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Un índice dinámico que reacciona a la coyuntura trimestral sin ruido estacional.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por Techos Fijos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105156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Techos Fijos en lugar de Min-Max?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41732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Comparabilidad Temporal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El Min-Max tradicional depende de la muestra; si un dato mejora, los límites cambian.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Techos Fijos (5 Años)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Fijamos umbrales de “Prosperidad Ideal” y “Prosperidad Mínima” basados en benchmarks regionales y objetivos estratégicos.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390448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42519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6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observar si Andalucía avanza hacia el objetivo absoluto, no solo hacia la media.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391095" y="1051560"/>
            <a:ext cx="3977640" cy="384048"/>
          </a:xfrm>
          <a:prstGeom prst="rect">
            <a:avLst/>
          </a:prstGeom>
          <a:solidFill>
            <a:srgbClr val="0079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482535" y="10515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Escalado 0-100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391095" y="1435608"/>
            <a:ext cx="3977640" cy="10972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7519111" y="1508760"/>
            <a:ext cx="37216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7464247" y="176479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598103" y="15636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− Mínimo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52967" y="1892808"/>
            <a:ext cx="162763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8598103" y="19293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 − Mínimo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0390327" y="17647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100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7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74520"/>
            <a:ext cx="11643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RESULTADOS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3047695" y="3520440"/>
            <a:ext cx="6096305" cy="10789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A3107BE-DB2B-25EB-5D48-1BC115350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622" y="3877355"/>
            <a:ext cx="2962215" cy="9465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Temporal de la Prosperidad en Andalucía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1695" y="1554480"/>
            <a:ext cx="5870448" cy="3291840"/>
          </a:xfrm>
          <a:prstGeom prst="rect">
            <a:avLst/>
          </a:prstGeom>
          <a:solidFill>
            <a:srgbClr val="F2F4F2"/>
          </a:solidFill>
          <a:ln w="12700">
            <a:solidFill>
              <a:srgbClr val="9AA79E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761695" y="1554480"/>
            <a:ext cx="587044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E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E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ipa27_evolucion_temporal.png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15023" y="1051560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Trayectoria de Progreso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815023" y="1399032"/>
            <a:ext cx="4590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Índice de Prosperidad de Andalucía ha aumentado en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+5,7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desde 2016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+10,9%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frente a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+2,5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ha aumentado la media de CCAA en España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+4,1%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El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esa mejoría se ha producido desde el tercer trimestre de 2023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totales).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Índice ha aumentado especialmente desde el tercer trimestre de 2023, con un crecimiento de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+4,2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+7,8%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frente a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+2,2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+3,7%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que ha aumentado en ese periodo la media de CCAA en España.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motores del crecimiento del Índice en ese periodo han sido el dominio de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“Economías Abiertas”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se ha incrementado desde el tercer trimestre de 2023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19,1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%) en Andalucía frente a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España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%), y el de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Sociedades Inclusivas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se ha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incrementado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%) frente a un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estancamiento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España.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B2F56B4-44F9-79E4-0D0B-DB848E8E7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" y="1554480"/>
            <a:ext cx="65836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1: Sociedades Inclusivas (+1,9 puntos, 2023T3 vs 2026Q2)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1695" y="1325880"/>
            <a:ext cx="6931152" cy="3703320"/>
          </a:xfrm>
          <a:prstGeom prst="rect">
            <a:avLst/>
          </a:prstGeom>
          <a:solidFill>
            <a:srgbClr val="F2F4F2"/>
          </a:solidFill>
          <a:ln w="12700">
            <a:solidFill>
              <a:srgbClr val="9AA79E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7912303" y="10515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Institucional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912303" y="1435608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Andalucía registra a lo largo de todo el período de análisis mejores resultados que la media de CCAA en España en el dominio de Sociedades Inclusivas, situándose el Segundo Trimestre de 2026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14,9 %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por encima de la media nacional.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Andalucía ha aumentado su ventaja con el resto de las CCAA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desde 2016.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trimester de 2023, Andalucía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ciertas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mejorías en el dominio “Sociedades Inclusivas”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pese a la reducción general respecto a los niveles de 2016.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6D9EEAD-10DF-C4D0-0901-56380D51A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18" y="1229121"/>
            <a:ext cx="7230057" cy="38968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2: Economías Abiertas (+10,1 puntos, 2016Q1 vs 2026Q2)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1695" y="1325880"/>
            <a:ext cx="6931152" cy="3291840"/>
          </a:xfrm>
          <a:prstGeom prst="rect">
            <a:avLst/>
          </a:prstGeom>
          <a:solidFill>
            <a:srgbClr val="F2F4F2"/>
          </a:solidFill>
          <a:ln w="12700">
            <a:solidFill>
              <a:srgbClr val="9AA79E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7912303" y="10515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Convergencia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912303" y="1323984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Andalucía ha mejorado sus indicadores del dominio de “Economías Abiertas”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25,9 %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desde 2016, frente 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17,8 %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 la media nacional, reduciendo su brecha con la media de las CCAA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menos).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grueso de la mejoría de los indicadores de “Economías Abiertas” en Andalucía se ha producido desde 2023, registrando una mejora de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19,1 %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frente a los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 la media nacional, y reduciendo la brecha desde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16,8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hasta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14,7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dominio pretende medir los avances en los niveles de Inversión, Empresas, Infraestructuras y Calidad Económica en general.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553E5FF-C215-54D4-4B8D-B40C57DE8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325290"/>
            <a:ext cx="7473391" cy="40279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3: Personas Empoderadas (+9,9 puntos, 2016Q1 vs 2026Q2)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912303" y="10515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Suelo Social Consolidado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912303" y="1435608"/>
            <a:ext cx="3520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Andalucía ha mejorado sus indicadores del dominio de “Personas Empoderadas”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16,6 %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desde 2016, frente a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de la media nacional, lo que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supone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ligera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caída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brecha con la media de las CCAA en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 puntos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 </a:t>
            </a: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2,0 %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50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Clr>
                <a:srgbClr val="007932"/>
              </a:buClr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dominio pretende medir los avances en los niveles de Vida, Salud, Educación y Conocimiento.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66AC1D2-2D46-E912-1D51-6117B6968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" y="1435607"/>
            <a:ext cx="6974560" cy="37591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 de Prosperidad Material: Renta per Cápita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81951" y="1051560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 de la Riqueza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381951" y="1435608"/>
            <a:ext cx="4050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con los motores: </a:t>
            </a: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Madrid, Cataluña y País Vasco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Clr>
                <a:srgbClr val="007932"/>
              </a:buClr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la prosperidad social (IPA27) converge, la renta per cápita sigue siendo el eje donde la brecha es más difícil de cerrar.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DC6A050-0876-8D83-D32F-6365FE89B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41" y="1368843"/>
            <a:ext cx="6908480" cy="34387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8543" y="274320"/>
            <a:ext cx="1074145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de Resultados: Andalucía vs Líderes Nacionales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4480560"/>
            <a:ext cx="975390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 Prioritarios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Comparativa directa en 6 dimensiones clave (Economía, Educación, Salud y Gobernanza).</a:t>
            </a:r>
            <a:endParaRPr lang="en-US" sz="2100" dirty="0"/>
          </a:p>
          <a:p>
            <a:pPr marL="342900" indent="-342900" algn="l">
              <a:lnSpc>
                <a:spcPct val="105000"/>
              </a:lnSpc>
              <a:buClr>
                <a:srgbClr val="007932"/>
              </a:buClr>
              <a:buSzPct val="100000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Visualización empírica del diferencial real frente a Madrid, Cataluña y País Vasco para identificar los márgenes de mejora necesarios.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95560" y="6597396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AA85782-5708-0055-1911-7F318FDC9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073" y="841248"/>
            <a:ext cx="5041148" cy="34588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2148840"/>
            <a:ext cx="106683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atención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047695" y="3611880"/>
            <a:ext cx="6096305" cy="38405"/>
          </a:xfrm>
          <a:prstGeom prst="rect">
            <a:avLst/>
          </a:prstGeom>
          <a:solidFill>
            <a:srgbClr val="0079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761695" y="4160520"/>
            <a:ext cx="106683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de contacto: </a:t>
            </a: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mhidper@upo.es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1558</Words>
  <Application>Microsoft Office PowerPoint</Application>
  <PresentationFormat>Panorámica</PresentationFormat>
  <Paragraphs>209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Índice de Prosperidad Andaluz (IPA27)</dc:title>
  <dc:subject>PptxGenJS Presentation</dc:subject>
  <dc:creator>Fundación Andalucía 27</dc:creator>
  <cp:lastModifiedBy>Manuel Alejandro Hidalgo Perez</cp:lastModifiedBy>
  <cp:revision>4</cp:revision>
  <dcterms:created xsi:type="dcterms:W3CDTF">2026-09-03T06:47:40Z</dcterms:created>
  <dcterms:modified xsi:type="dcterms:W3CDTF">2026-09-03T07:31:22Z</dcterms:modified>
</cp:coreProperties>
</file>